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5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44-4429-8323-88EEB4EB44C4}"/>
              </c:ext>
            </c:extLst>
          </c:dPt>
          <c:dPt>
            <c:idx val="1"/>
            <c:bubble3D val="0"/>
            <c:spPr>
              <a:solidFill>
                <a:srgbClr val="1B7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44-4429-8323-88EEB4EB44C4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44-4429-8323-88EEB4EB44C4}"/>
              </c:ext>
            </c:extLst>
          </c:dPt>
          <c:dPt>
            <c:idx val="3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44-4429-8323-88EEB4EB44C4}"/>
              </c:ext>
            </c:extLst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44-4429-8323-88EEB4EB44C4}"/>
              </c:ext>
            </c:extLst>
          </c:dPt>
          <c:dPt>
            <c:idx val="5"/>
            <c:bubble3D val="0"/>
            <c:spPr>
              <a:solidFill>
                <a:srgbClr val="B86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44-4429-8323-88EEB4EB44C4}"/>
              </c:ext>
            </c:extLst>
          </c:dPt>
          <c:dPt>
            <c:idx val="6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944-4429-8323-88EEB4EB44C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44-4429-8323-88EEB4EB44C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944-4429-8323-88EEB4EB44C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44-4429-8323-88EEB4EB44C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944-4429-8323-88EEB4EB44C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944-4429-8323-88EEB4EB44C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944-4429-8323-88EEB4EB44C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944-4429-8323-88EEB4EB44C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Follow Up</c:v>
                </c:pt>
                <c:pt idx="1">
                  <c:v>Won</c:v>
                </c:pt>
                <c:pt idx="2">
                  <c:v>Lost</c:v>
                </c:pt>
                <c:pt idx="3">
                  <c:v>Cancelled</c:v>
                </c:pt>
                <c:pt idx="4">
                  <c:v>Retendered</c:v>
                </c:pt>
                <c:pt idx="5">
                  <c:v>On Hold</c:v>
                </c:pt>
                <c:pt idx="6">
                  <c:v>Pending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214</c:v>
                </c:pt>
                <c:pt idx="1">
                  <c:v>188</c:v>
                </c:pt>
                <c:pt idx="2">
                  <c:v>25</c:v>
                </c:pt>
                <c:pt idx="3">
                  <c:v>12</c:v>
                </c:pt>
                <c:pt idx="4">
                  <c:v>9</c:v>
                </c:pt>
                <c:pt idx="5">
                  <c:v>9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944-4429-8323-88EEB4EB4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34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— Enquiry Management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operating system for Almoayyed Contracting Group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5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sister companies — live across Bahrain multi-division operations.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r>
              <a:rPr lang="en-US" sz="12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EMS_DB · 26 Aug 2026  ·  Developed by Mohan Naidu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is already live across 20 group company entities and 38 divisions, with 250+ active users managing 1,031+ enquiries and 1,135 formal quotes — proving product–market fit inside a complex multi-division contracting organisation.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09728" cy="2560320"/>
          </a:xfrm>
          <a:prstGeom prst="rect">
            <a:avLst/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adoption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active users across HVAC, civil, interiors, IFM, scaffolding, security &amp; more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109728" cy="2560320"/>
          </a:xfrm>
          <a:prstGeom prst="rect">
            <a:avLst/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process 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8404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codes, approval hierarchies, quote formats — hard to replace with generic CRM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3017520"/>
            <a:ext cx="109728" cy="2560320"/>
          </a:xfrm>
          <a:prstGeom prst="rect">
            <a:avLst/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throughput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8404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enquiries, 1,100+ quotes, 11k+ workflow notifications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Scale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Entities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 / Services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12801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9828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354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User-Linked Divisions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94360" y="4663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Logged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34747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4663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Quotes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4747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55080" y="4663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98280" y="34747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9828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3,409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235440" y="4663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Masters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EMS 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replaces fragmented spreadsheets, email threads, and ad-hoc Word/PDF quotes with one division-scoped record for every opportunity across Almoayyed Contracting Group and sister companies.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single-tenant, multi-division enterprise platform hosted on company Windows Server / IIS with Microsoft SQL Server. Data residency stays on-premise (Asia/Bahrain).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45720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4572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45720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4572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SMTP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PDF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50749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0" y="5074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approvals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1430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965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Sales Engineers &amp; QS / tender teams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468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Division managers &amp; approvers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971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Business development &amp; direct sales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Group management (reports &amp; targets)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1148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roles: Enquiry, Pricing, Quote, Probability, Sales Report, Sales Target, Admin.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users have core commercial roles · 49 Sales Target · 1 Admin.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Status Mix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658368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2801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0" y="1417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records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24231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0" y="2560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8080" y="2971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opportunities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35661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9808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498080" y="4114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follow-ups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0" y="47091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0" y="4846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98080" y="5257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notifications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on the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identity drives quote letterheads, department codes, and company-level approver pools.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30000" cy="31089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Air Conditioning W.L.L.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HVAC, BMS, Electrical, Plumbing, Maint, Direct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Facility Management W.L.L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/ HVAC / Elec / Cleaning / Facility / Home /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YK Almoayyed Integrated Building Solutions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IBMS Project &amp; Maint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Scaffolding Company W.L.L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Scaffolding, Machine Leasing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Contracting W.L.L.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Project &amp; Maint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Interiors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Interiors Project &amp; Maint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Landscapes and Swimming Pools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Landscape Project &amp; Maint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Contracting Group W.L.L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Sales – ACG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Property Development W.L.L.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Air Ducts Factory W.L.L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Factory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Almoayyed Aluminium / Cleaning / Security / Transport…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CamAir, Designers Gallery, YK RE, Simplex, 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6" name="Text 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Commercial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Enquiry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577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3172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57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Quote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57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Approval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57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Probability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1268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57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9556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B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9556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Reports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56012"/>
              </p:ext>
            </p:extLst>
          </p:nvPr>
        </p:nvGraphicFramePr>
        <p:xfrm>
          <a:off x="365760" y="2194560"/>
          <a:ext cx="11430000" cy="2590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delivers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calendars, KPIs, division/SE filters, enquiry drill-down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Multi-customer registration, Lead/Sub-Job hierarchy, attachments, Outlook notify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evaluation by job/customer; base price &amp; options; division ACL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editor, revisions, protected A4 PDF, Outlook draft with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routing, digital signatures, cross-division rules,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 / Lost / Follow Up / On Hold / Cancelled / Retendered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Charts, top jobs, status analysis, Excel / A4 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vs actual by FY/quarter/division/SE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 &amp;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Customers, contacts, users, divisions, clauses,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Operating Volume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logged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span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Jan 2025 – 26 Aug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quotes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drafts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value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target records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records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deployment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2286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single-department pilot — spans HVAC, civil, interiors, IFM, scaffolding, security, aluminium, landscape, transport.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process 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3520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ACL, approval hierarchies, and quote numbering are productised — not spreadsheet workarounds.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434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operational dependence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4754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enquiry, quote, approval, and notification traffic show real usage, not demo data.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· ExcelJS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Express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API endpoints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 manager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2801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1508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103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(EMS_DB)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reverse proxy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Outlook · PDF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E8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 → IIS (static + ARR) → Node API → SQL Server + file share for attachments.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~100 concurrent internal users; current registered base is 250+ active accounts across the group (concurrency is lower than headcount).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Commercial Framing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BHD 75k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replacement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vendor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2344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3816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BHD 5k/yr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2104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support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 for the group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One source of truth for opportunities across 20 company entities.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Controlled quoting (protected PDF + approval audit) reduces commercial risk.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Management visibility via dashboard, sales report, and targets.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Cost avoidance vs outsourcing an equivalent GCC enterprise build.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Domain rules (Lead/Sub-Job, division ACL, company letterheads) are productised IP.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· Investor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Summary for the Deck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61534"/>
              </p:ext>
            </p:extLst>
          </p:nvPr>
        </p:nvGraphicFramePr>
        <p:xfrm>
          <a:off x="457200" y="1188720"/>
          <a:ext cx="11247120" cy="3017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9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250+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sales / QS / management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+ sister companies on shared 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Enquiry-For catalogue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divisions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mapped to operational divisions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customer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Received-from / stakeholder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2025 – Aug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 formal (+731 draft)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quoting 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 (188 Won)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commercial 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39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System-driven workflow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Almoayyed Contracting Group  ·  Confidential  ·  Live EMS_DB · 26 Aug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9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Narrative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is not a slideware prototype. It is the live sales backbone of Almoayyed Contracting Group’s multi-company operations — already adopted by 250+ users across HVAC, civil, interiors, facilities, scaffolding, security, and allied businesses — with measurable enquiry, quote, approval, and win/follow-up volume.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5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 or management sponsors: proven internal product–market fit, deep domain IP, on-premise control, and a clear path to continued expansion across remaining group entities and modules — without rebuilding the core.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Almoayyed Contracting Group  ·  Live EMS_DB · 26 Aug 2026  ·  Mohan Naidu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1369</Words>
  <Application>Microsoft Office PowerPoint</Application>
  <PresentationFormat>Widescreen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 Investor Presentation — Almoayyed Contracting Group</dc:title>
  <dc:subject>Enquiry Management System — Investor Briefing</dc:subject>
  <dc:creator>Mohan Naidu</dc:creator>
  <cp:lastModifiedBy>Mohan Naidu</cp:lastModifiedBy>
  <cp:revision>4</cp:revision>
  <dcterms:created xsi:type="dcterms:W3CDTF">2026-08-26T06:15:58Z</dcterms:created>
  <dcterms:modified xsi:type="dcterms:W3CDTF">2026-08-26T06:30:02Z</dcterms:modified>
</cp:coreProperties>
</file>